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A4C"/>
                </a:solidFill>
                <a:latin typeface="Calibri"/>
              </a:rPr>
              <a:t>Viewing Records by Month (Jan–Mar)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</c:v>
                </c:pt>
              </c:strCache>
            </c:strRef>
          </c:tx>
          <c:spPr>
            <a:solidFill>
              <a:srgbClr val="132A4C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2A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</c:v>
                </c:pt>
                <c:pt idx="1">
                  <c:v>2973</c:v>
                </c:pt>
                <c:pt idx="2">
                  <c:v>4821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A4C"/>
                </a:solidFill>
                <a:latin typeface="Calibri"/>
              </a:rPr>
              <a:t>Viewing Records by Hour of Day and Gender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69</c:v>
                </c:pt>
                <c:pt idx="1">
                  <c:v>48</c:v>
                </c:pt>
                <c:pt idx="2">
                  <c:v>43</c:v>
                </c:pt>
                <c:pt idx="3">
                  <c:v>73</c:v>
                </c:pt>
                <c:pt idx="4">
                  <c:v>147</c:v>
                </c:pt>
                <c:pt idx="5">
                  <c:v>256</c:v>
                </c:pt>
                <c:pt idx="6">
                  <c:v>348</c:v>
                </c:pt>
                <c:pt idx="7">
                  <c:v>360</c:v>
                </c:pt>
                <c:pt idx="8">
                  <c:v>487</c:v>
                </c:pt>
                <c:pt idx="9">
                  <c:v>478</c:v>
                </c:pt>
                <c:pt idx="10">
                  <c:v>555</c:v>
                </c:pt>
                <c:pt idx="11">
                  <c:v>502</c:v>
                </c:pt>
                <c:pt idx="12">
                  <c:v>537</c:v>
                </c:pt>
                <c:pt idx="13">
                  <c:v>578</c:v>
                </c:pt>
                <c:pt idx="14">
                  <c:v>551</c:v>
                </c:pt>
                <c:pt idx="15">
                  <c:v>559</c:v>
                </c:pt>
                <c:pt idx="16">
                  <c:v>549</c:v>
                </c:pt>
                <c:pt idx="17">
                  <c:v>568</c:v>
                </c:pt>
                <c:pt idx="18">
                  <c:v>525</c:v>
                </c:pt>
                <c:pt idx="19">
                  <c:v>518</c:v>
                </c:pt>
                <c:pt idx="20">
                  <c:v>438</c:v>
                </c:pt>
                <c:pt idx="21">
                  <c:v>326</c:v>
                </c:pt>
                <c:pt idx="22">
                  <c:v>161</c:v>
                </c:pt>
                <c:pt idx="23">
                  <c:v>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8871E"/>
            </a:solidFill>
            <a:ln w="31750" cap="flat">
              <a:solidFill>
                <a:srgbClr val="E887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8</c:v>
                </c:pt>
                <c:pt idx="1">
                  <c:v>6</c:v>
                </c:pt>
                <c:pt idx="2">
                  <c:v>5</c:v>
                </c:pt>
                <c:pt idx="3">
                  <c:v>15</c:v>
                </c:pt>
                <c:pt idx="4">
                  <c:v>24</c:v>
                </c:pt>
                <c:pt idx="5">
                  <c:v>33</c:v>
                </c:pt>
                <c:pt idx="6">
                  <c:v>44</c:v>
                </c:pt>
                <c:pt idx="7">
                  <c:v>31</c:v>
                </c:pt>
                <c:pt idx="8">
                  <c:v>42</c:v>
                </c:pt>
                <c:pt idx="9">
                  <c:v>44</c:v>
                </c:pt>
                <c:pt idx="10">
                  <c:v>57</c:v>
                </c:pt>
                <c:pt idx="11">
                  <c:v>51</c:v>
                </c:pt>
                <c:pt idx="12">
                  <c:v>61</c:v>
                </c:pt>
                <c:pt idx="13">
                  <c:v>46</c:v>
                </c:pt>
                <c:pt idx="14">
                  <c:v>66</c:v>
                </c:pt>
                <c:pt idx="15">
                  <c:v>77</c:v>
                </c:pt>
                <c:pt idx="16">
                  <c:v>65</c:v>
                </c:pt>
                <c:pt idx="17">
                  <c:v>54</c:v>
                </c:pt>
                <c:pt idx="18">
                  <c:v>82</c:v>
                </c:pt>
                <c:pt idx="19">
                  <c:v>59</c:v>
                </c:pt>
                <c:pt idx="20">
                  <c:v>44</c:v>
                </c:pt>
                <c:pt idx="21">
                  <c:v>29</c:v>
                </c:pt>
                <c:pt idx="22">
                  <c:v>14</c:v>
                </c:pt>
                <c:pt idx="23">
                  <c:v>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Viewing records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A4C"/>
                </a:solidFill>
                <a:latin typeface="Calibri"/>
              </a:rPr>
              <a:t>Viewing Records by Province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Gauteng</c:v>
                  </c:pt>
                  <c:pt idx="1">
                    <c:v>Western Cape</c:v>
                  </c:pt>
                  <c:pt idx="2">
                    <c:v>Kwazulu Natal</c:v>
                  </c:pt>
                  <c:pt idx="3">
                    <c:v>Mpumalanga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North West</c:v>
                  </c:pt>
                  <c:pt idx="7">
                    <c:v>Free State</c:v>
                  </c:pt>
                  <c:pt idx="8">
                    <c:v>Not Provided</c:v>
                  </c:pt>
                  <c:pt idx="9">
                    <c:v>Northern Cape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3652</c:v>
                </c:pt>
                <c:pt idx="1">
                  <c:v>1845</c:v>
                </c:pt>
                <c:pt idx="2">
                  <c:v>1001</c:v>
                </c:pt>
                <c:pt idx="3">
                  <c:v>917</c:v>
                </c:pt>
                <c:pt idx="4">
                  <c:v>763</c:v>
                </c:pt>
                <c:pt idx="5">
                  <c:v>688</c:v>
                </c:pt>
                <c:pt idx="6">
                  <c:v>344</c:v>
                </c:pt>
                <c:pt idx="7">
                  <c:v>292</c:v>
                </c:pt>
                <c:pt idx="8">
                  <c:v>263</c:v>
                </c:pt>
                <c:pt idx="9">
                  <c:v>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A4C"/>
                </a:solidFill>
                <a:latin typeface="Calibri"/>
              </a:rPr>
              <a:t>Viewing Records by Channel (highest to lowest)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Live Event</c:v>
                  </c:pt>
                  <c:pt idx="1">
                    <c:v>ICC Cricket World Cup 2011</c:v>
                  </c:pt>
                  <c:pt idx="2">
                    <c:v>Channel O</c:v>
                  </c:pt>
                  <c:pt idx="3">
                    <c:v>Trace TV</c:v>
                  </c:pt>
                  <c:pt idx="4">
                    <c:v>SuperSport Blitz</c:v>
                  </c:pt>
                  <c:pt idx="5">
                    <c:v>Africa Magic</c:v>
                  </c:pt>
                  <c:pt idx="6">
                    <c:v>Cartoon Network</c:v>
                  </c:pt>
                  <c:pt idx="7">
                    <c:v>Boomerang</c:v>
                  </c:pt>
                  <c:pt idx="8">
                    <c:v>CNN</c:v>
                  </c:pt>
                  <c:pt idx="9">
                    <c:v>Entertainment</c:v>
                  </c:pt>
                  <c:pt idx="10">
                    <c:v>SawSee</c:v>
                  </c:pt>
                  <c:pt idx="11">
                    <c:v>M-Net</c:v>
                  </c:pt>
                  <c:pt idx="12">
                    <c:v>Vuzu</c:v>
                  </c:pt>
                  <c:pt idx="13">
                    <c:v>Break in transmission</c:v>
                  </c:pt>
                  <c:pt idx="14">
                    <c:v>kykNET</c:v>
                  </c:pt>
                  <c:pt idx="15">
                    <c:v>MK</c:v>
                  </c:pt>
                  <c:pt idx="16">
                    <c:v>Wimbledon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1770</c:v>
                </c:pt>
                <c:pt idx="1">
                  <c:v>1465</c:v>
                </c:pt>
                <c:pt idx="2">
                  <c:v>1048</c:v>
                </c:pt>
                <c:pt idx="3">
                  <c:v>952</c:v>
                </c:pt>
                <c:pt idx="4">
                  <c:v>896</c:v>
                </c:pt>
                <c:pt idx="5">
                  <c:v>857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  <c:pt idx="10">
                  <c:v>255</c:v>
                </c:pt>
                <c:pt idx="11">
                  <c:v>116</c:v>
                </c:pt>
                <c:pt idx="12">
                  <c:v>111</c:v>
                </c:pt>
                <c:pt idx="13">
                  <c:v>66</c:v>
                </c:pt>
                <c:pt idx="14">
                  <c:v>45</c:v>
                </c:pt>
                <c:pt idx="15">
                  <c:v>32</c:v>
                </c:pt>
                <c:pt idx="1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A4C"/>
                </a:solidFill>
                <a:latin typeface="Calibri"/>
              </a:rPr>
              <a:t>Viewing Records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</c:v>
                </c:pt>
              </c:strCache>
            </c:strRef>
          </c:tx>
          <c:spPr>
            <a:solidFill>
              <a:srgbClr val="132A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Adult</c:v>
                  </c:pt>
                  <c:pt idx="1">
                    <c:v>Older Adult</c:v>
                  </c:pt>
                  <c:pt idx="2">
                    <c:v>Teenage</c:v>
                  </c:pt>
                  <c:pt idx="3">
                    <c:v>Grand Parents</c:v>
                  </c:pt>
                  <c:pt idx="4">
                    <c:v>Older Grand Parents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5848</c:v>
                </c:pt>
                <c:pt idx="1">
                  <c:v>3385</c:v>
                </c:pt>
                <c:pt idx="2">
                  <c:v>677</c:v>
                </c:pt>
                <c:pt idx="3">
                  <c:v>70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2A4C"/>
                </a:solidFill>
                <a:latin typeface="Calibri"/>
              </a:rPr>
              <a:t>Viewing Records by Race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Viewing records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2A4C"/>
              </a:solidFill>
              <a:effectLst/>
            </c:spPr>
          </c:dPt>
          <c:dPt>
            <c:idx val="1"/>
            <c:bubble3D val="0"/>
            <c:spPr>
              <a:solidFill>
                <a:srgbClr val="2E5C8A"/>
              </a:solidFill>
              <a:effectLst/>
            </c:spPr>
          </c:dPt>
          <c:dPt>
            <c:idx val="2"/>
            <c:bubble3D val="0"/>
            <c:spPr>
              <a:solidFill>
                <a:srgbClr val="E8871E"/>
              </a:solidFill>
              <a:effectLst/>
            </c:spPr>
          </c:dPt>
          <c:dPt>
            <c:idx val="3"/>
            <c:bubble3D val="0"/>
            <c:spPr>
              <a:solidFill>
                <a:srgbClr val="8AA6C1"/>
              </a:solidFill>
              <a:effectLst/>
            </c:spPr>
          </c:dPt>
          <c:dPt>
            <c:idx val="4"/>
            <c:bubble3D val="0"/>
            <c:spPr>
              <a:solidFill>
                <a:srgbClr val="C9CE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White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4329</c:v>
                </c:pt>
                <c:pt idx="1">
                  <c:v>1631</c:v>
                </c:pt>
                <c:pt idx="2">
                  <c:v>1575</c:v>
                </c:pt>
                <c:pt idx="3">
                  <c:v>1291</c:v>
                </c:pt>
                <c:pt idx="4">
                  <c:v>1169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E5C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E8871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Analysis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how audiences watch Bright TV — by month, hour, province, channel, age, and race.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Sibiya Siphesihle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83664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38528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0545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05456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Distribution by Month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72384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072384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Hour and Gender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39312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639312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Province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51376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371600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1371600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1883664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938528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1938528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Age Group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2450592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505456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2505456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Race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09360" y="3017520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72384"/>
            <a:ext cx="640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95160" y="3072384"/>
            <a:ext cx="4434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Recommendations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3584448"/>
            <a:ext cx="5120640" cy="0"/>
          </a:xfrm>
          <a:prstGeom prst="line">
            <a:avLst/>
          </a:prstGeom>
          <a:noFill/>
          <a:ln w="12700">
            <a:solidFill>
              <a:srgbClr val="DDE2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47548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852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TV streaming platform offering a wide range of channels. This analysis examines Bright TV's viewing data (9,995 viewing records) to understand how audiences use the platform.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viewer behaviour, popular channels, viewing times, and audience groups by age, gender, race, and province across January to March. A Power BI dashboard was built to visualise the findings through charts and graphs.
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help Bright TV understand its viewers, identify popular content, and make informed decisions to improve the viewing experience and grow its audience.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6642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589520" y="23042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records analysed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60920" y="306324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31729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589520" y="38130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 (Jan–Mar)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60920" y="45720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132A4C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468172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9520" y="53218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tracked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TV dashboard turns raw viewing records into clear, decision-ready insights across six lenses: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Trend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viewer numbers change January to March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6F9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10312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 &amp; Gender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people watch, and how male / female viewing compares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210312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viewers are located across South Africa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channels attract the most and least viewers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2062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443484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17720" y="5349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groups watch Bright TV the most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420624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4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8366760" y="443484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983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0" y="53492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of viewers by race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views help Bright TV understand its audience, spot viewing trends, and make better content and scheduling decisions.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Distribution by Month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6751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371600"/>
            <a:ext cx="4206240" cy="4572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19659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recorded the highest viewership with 4,821 views (48.2% of all records) — more than February (2,973) and January (2,201) combined.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0" y="3520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3931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flagship programming in March to build on peak momentum, and investigate what drove March's surge so the same drivers can be repeated in quieter months.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Hour and Gender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(8,757 records, 87.6%) far outnumber female viewers (976 records, 9.8%) at every hour of the day; viewing for both groups peaks in the afternoon, around 15:00.   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investing in content that resonates with the strong male base, while introducing programming and marketing aimed at growing female engagement.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Province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77640" cy="4709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196596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with 3,652 viewing records (36.5%), followed by Western Cape (1,845, 18.5%) and Kwazulu Natal (1,001, 10.0%). The remaining provinces each account for under 10%.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09560" y="42062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serving the strong Gauteng and Western Cape audiences, and run targeted promotion in lower-viewership provinces such as Free State and Northern Cape to grow reach.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98448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 (1,770), ICC Cricket World Cup 2011 (1,465), Channel O (1,048) and Trace TV (952) are the top-performing channels — viewers favour live sport and music entertainment. Wimbledon (3), MK (32) and kykNET (45) have the lowest viewership.  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investing in live sport and music content that drives the top channels, and review scheduling, promotion and content fit for the lowest-performing channels.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Age Group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77640" cy="4709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19659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have the highest viewership with 5,848 records (58.5%), followed by Older Adults with 3,385 (33.9%) — together over 92% of all viewing. Teenagers (677), Grand Parents (70) and Older Grand Parents (15) show very low engagement.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90956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09560" y="461772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prioritising content for Adults and Older Adults, and develop targeted programming and marketing to grow engagement among Teenagers and older age groups.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Viewership by Race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417320"/>
          <a:ext cx="60350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417320"/>
            <a:ext cx="4572000" cy="46634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0" y="201168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viewers have the highest viewership with 4,329 records (43.3%), followed by Coloured (1,631, 16.3%) and Indian/Asian (1,575, 15.8%) viewers — together the largest audience groups on Bright TV. White (1,291, 12.9%) and Other (1,169, 11.7%) race groups show lower engagement by comparison.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0" y="49377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producing content that appeals to Black, Coloured and Indian/Asian viewers, while developing targeted content and campaigns to grow engagement among White and Other race groups.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50749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9280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drove 48.2% of all viewing, far ahead of February (29.7%) and January (22.0%).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752344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606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(58.5%) and Older Adults (33.9%) make up over 92% of viewership; Teenagers and older groups engage far less.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31927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(43.3%), Coloured (16.3%) and Indian/Asian (15.8%) viewers are the largest race groups; White and Other groups engage less.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178808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3250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viewers (87.6%) far outnumber female viewers (9.8%); viewing peaks in the afternoon, around 15:00.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74573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and music channels (Live Event, ICC Cricket World Cup 2011, Channel O, Trace TV) dominate viewership.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60527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45896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(36.5%) and Western Cape (18.5%) lead provincial viewership; other provinces trail well behind.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5394960" cy="5074920"/>
          </a:xfrm>
          <a:prstGeom prst="rect">
            <a:avLst/>
          </a:prstGeom>
          <a:solidFill>
            <a:srgbClr val="132A4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Recommendations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03911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189280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content for Adults and Older Adults, the core audience driving most viewership.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752344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606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targeted content and marketing for Teenagers and underrepresented race groups (White, Other).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465576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3192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flagship programming in peak periods — March, and afternoon hours around 15:00.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178808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03250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investing in top channels (live sport, music) and improve or reposition low-performing channels.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892040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74573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provincial data to tailor promotion, growing reach beyond Gauteng and Western Cape.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5605272"/>
            <a:ext cx="82296" cy="82296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54589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3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more content aimed at growing female viewership engagement.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A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2E5C8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206240" cy="4206240"/>
          </a:xfrm>
          <a:prstGeom prst="ellipse">
            <a:avLst/>
          </a:prstGeom>
          <a:solidFill>
            <a:srgbClr val="E8871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Sibiya Siphesihle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2026-07-21T11:48:53Z</dcterms:created>
  <dcterms:modified xsi:type="dcterms:W3CDTF">2026-07-21T11:48:53Z</dcterms:modified>
</cp:coreProperties>
</file>